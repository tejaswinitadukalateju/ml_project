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3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96012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AGRIRAIN AI</a:t>
            </a:r>
          </a:p>
          <a:p>
            <a:pPr>
              <a:defRPr sz="2500">
                <a:solidFill>
                  <a:srgbClr val="CDEBD8"/>
                </a:solidFill>
              </a:defRPr>
            </a:pPr>
            <a:r>
              <a:t>Agriculture Rainfall Prediction using Gradient Boosting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88920"/>
            <a:ext cx="3769686" cy="19697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Machine Learning Project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rPr dirty="0"/>
              <a:t>T. Tejaswini  |  Roll No: 2520030510</a:t>
            </a:r>
            <a:endParaRPr lang="en-US" dirty="0"/>
          </a:p>
          <a:p>
            <a:pPr>
              <a:defRPr sz="1700">
                <a:solidFill>
                  <a:srgbClr val="FFFFFF"/>
                </a:solidFill>
              </a:defRPr>
            </a:pPr>
            <a:r>
              <a:rPr lang="en-IN" dirty="0"/>
              <a:t> Sree Haasini </a:t>
            </a:r>
            <a:r>
              <a:rPr lang="en-US" dirty="0"/>
              <a:t>|  Roll No: </a:t>
            </a:r>
            <a:r>
              <a:rPr lang="en-IN" dirty="0"/>
              <a:t>2520030491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rPr lang="en-US" dirty="0" err="1"/>
              <a:t>Eswakalipriya</a:t>
            </a:r>
            <a:r>
              <a:rPr lang="en-US" dirty="0"/>
              <a:t> |  Roll No: 2520030492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1700">
                <a:solidFill>
                  <a:srgbClr val="FFFFFF"/>
                </a:solidFill>
              </a:defRPr>
            </a:pPr>
            <a:r>
              <a:rPr lang="en-IN" dirty="0"/>
              <a:t>  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rPr dirty="0"/>
              <a:t>B</a:t>
            </a:r>
            <a:r>
              <a:rPr lang="en-US" dirty="0"/>
              <a:t> </a:t>
            </a:r>
            <a:r>
              <a:rPr dirty="0"/>
              <a:t>.</a:t>
            </a:r>
            <a:r>
              <a:rPr lang="en-US" dirty="0"/>
              <a:t> </a:t>
            </a:r>
            <a:r>
              <a:rPr dirty="0"/>
              <a:t>Tech – Computer Science Engineering</a:t>
            </a:r>
          </a:p>
        </p:txBody>
      </p:sp>
      <p:sp>
        <p:nvSpPr>
          <p:cNvPr id="4" name="Oval 3"/>
          <p:cNvSpPr/>
          <p:nvPr/>
        </p:nvSpPr>
        <p:spPr>
          <a:xfrm>
            <a:off x="8503920" y="4754880"/>
            <a:ext cx="731520" cy="73152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15400" y="4434840"/>
            <a:ext cx="731520" cy="73152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0" y="4754880"/>
            <a:ext cx="731520" cy="73152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738360" y="4434840"/>
            <a:ext cx="731520" cy="73152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149840" y="4754880"/>
            <a:ext cx="731520" cy="73152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372A"/>
                </a:solidFill>
              </a:defRPr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69"/>
                </a:solidFill>
              </a:defRPr>
            </a:pPr>
            <a:r>
              <a:t>What AGRIRAIN AI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28"/>
                </a:solidFill>
              </a:defRPr>
            </a:pPr>
            <a:r>
              <a:t>AGRIRAIN AI is a web-based machine learning system for analysing historical agricultural and rainfall data.</a:t>
            </a:r>
          </a:p>
          <a:p>
            <a:pPr>
              <a:spcAft>
                <a:spcPts val="1200"/>
              </a:spcAft>
              <a:defRPr sz="1900">
                <a:solidFill>
                  <a:srgbClr val="232D28"/>
                </a:solidFill>
              </a:defRPr>
            </a:pPr>
            <a:r>
              <a:t>It explores rainfall, crop, state, season, area, production, fertilizer and pesticide relationships.</a:t>
            </a:r>
          </a:p>
          <a:p>
            <a:pPr>
              <a:spcAft>
                <a:spcPts val="1200"/>
              </a:spcAft>
              <a:defRPr sz="1900">
                <a:solidFill>
                  <a:srgbClr val="232D28"/>
                </a:solidFill>
              </a:defRPr>
            </a:pPr>
            <a:r>
              <a:t>The primary model is Gradient Boosting Regression for continuous crop-yield prediction.</a:t>
            </a:r>
          </a:p>
          <a:p>
            <a:pPr>
              <a:spcAft>
                <a:spcPts val="1200"/>
              </a:spcAft>
              <a:defRPr sz="1900">
                <a:solidFill>
                  <a:srgbClr val="232D28"/>
                </a:solidFill>
              </a:defRPr>
            </a:pPr>
            <a:r>
              <a:t>The application also provides a Low / Medium / High yield classification and an interactive yield forecast simulator.</a:t>
            </a:r>
          </a:p>
          <a:p>
            <a:pPr>
              <a:spcAft>
                <a:spcPts val="1200"/>
              </a:spcAft>
              <a:defRPr sz="1900">
                <a:solidFill>
                  <a:srgbClr val="232D28"/>
                </a:solidFill>
              </a:defRPr>
            </a:pPr>
            <a:r>
              <a:t>Goal: convert historical agricultural data into useful, explainable insights for crop planning and decision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69"/>
                </a:solidFill>
              </a:defRPr>
            </a:pPr>
            <a:r>
              <a:t>AGRIRAIN AI  •  Agriculture Rainfall Prediction using Gradient Boosting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372A"/>
                </a:solidFill>
              </a:defRPr>
            </a:pPr>
            <a: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69"/>
                </a:solidFill>
              </a:defRPr>
            </a:pPr>
            <a:r>
              <a:t>Why this system is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28"/>
                </a:solidFill>
              </a:defRPr>
            </a:pPr>
            <a:r>
              <a:t>Rainfall variability directly affects agricultural activity, but its effect differs across crops, states and seasons.</a:t>
            </a:r>
          </a:p>
          <a:p>
            <a:pPr>
              <a:spcAft>
                <a:spcPts val="1200"/>
              </a:spcAft>
              <a:defRPr sz="1900">
                <a:solidFill>
                  <a:srgbClr val="232D28"/>
                </a:solidFill>
              </a:defRPr>
            </a:pPr>
            <a:r>
              <a:t>Large historical datasets contain useful patterns that are difficult to analyse manually.</a:t>
            </a:r>
          </a:p>
          <a:p>
            <a:pPr>
              <a:spcAft>
                <a:spcPts val="1200"/>
              </a:spcAft>
              <a:defRPr sz="1900">
                <a:solidFill>
                  <a:srgbClr val="232D28"/>
                </a:solidFill>
              </a:defRPr>
            </a:pPr>
            <a:r>
              <a:t>Farm-oriented planning benefits from combining rainfall with production, area, fertilizer, pesticide, crop and location information.</a:t>
            </a:r>
          </a:p>
          <a:p>
            <a:pPr>
              <a:spcAft>
                <a:spcPts val="1200"/>
              </a:spcAft>
              <a:defRPr sz="1900">
                <a:solidFill>
                  <a:srgbClr val="232D28"/>
                </a:solidFill>
              </a:defRPr>
            </a:pPr>
            <a:r>
              <a:t>Therefore, a data-driven system is required to analyse historical patterns and estimate crop yield from multiple factors.</a:t>
            </a:r>
          </a:p>
          <a:p>
            <a:pPr>
              <a:spcAft>
                <a:spcPts val="1200"/>
              </a:spcAft>
              <a:defRPr sz="1900">
                <a:solidFill>
                  <a:srgbClr val="232D28"/>
                </a:solidFill>
              </a:defRPr>
            </a:pPr>
            <a:r>
              <a:t>AGRIRAIN AI addresses this through EDA, statistical relationships and Gradient Boosting based prediction.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69"/>
                </a:solidFill>
              </a:defRPr>
            </a:pPr>
            <a:r>
              <a:t>AGRIRAIN AI  •  Agriculture Rainfall Prediction using Gradient Boosting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372A"/>
                </a:solidFill>
              </a:defRPr>
            </a:pPr>
            <a:r>
              <a:t>3.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D28"/>
                </a:solidFill>
              </a:defRPr>
            </a:pPr>
            <a:r>
              <a:t>Analyse historical rainfall and agricultural records across Indian states and crops.</a:t>
            </a:r>
          </a:p>
          <a:p>
            <a:pPr>
              <a:spcAft>
                <a:spcPts val="1200"/>
              </a:spcAft>
              <a:defRPr sz="1700">
                <a:solidFill>
                  <a:srgbClr val="232D28"/>
                </a:solidFill>
              </a:defRPr>
            </a:pPr>
            <a:r>
              <a:t>Clean, validate and summarize the dataset before modelling.</a:t>
            </a:r>
          </a:p>
          <a:p>
            <a:pPr>
              <a:spcAft>
                <a:spcPts val="1200"/>
              </a:spcAft>
              <a:defRPr sz="1700">
                <a:solidFill>
                  <a:srgbClr val="232D28"/>
                </a:solidFill>
              </a:defRPr>
            </a:pPr>
            <a:r>
              <a:t>Perform exploratory data analysis to identify crop, state, season and rainfall patterns.</a:t>
            </a:r>
          </a:p>
          <a:p>
            <a:pPr>
              <a:spcAft>
                <a:spcPts val="1200"/>
              </a:spcAft>
              <a:defRPr sz="1700">
                <a:solidFill>
                  <a:srgbClr val="232D28"/>
                </a:solidFill>
              </a:defRPr>
            </a:pPr>
            <a:r>
              <a:t>Study correlations between rainfall, area, production, fertilizer, pesticide and yield.</a:t>
            </a:r>
          </a:p>
          <a:p>
            <a:pPr>
              <a:spcAft>
                <a:spcPts val="1200"/>
              </a:spcAft>
              <a:defRPr sz="1700">
                <a:solidFill>
                  <a:srgbClr val="232D28"/>
                </a:solidFill>
              </a:defRPr>
            </a:pPr>
            <a:r>
              <a:t>Train and evaluate a Gradient Boosting model for yield prediction.</a:t>
            </a:r>
          </a:p>
          <a:p>
            <a:pPr>
              <a:spcAft>
                <a:spcPts val="1200"/>
              </a:spcAft>
              <a:defRPr sz="1700">
                <a:solidFill>
                  <a:srgbClr val="232D28"/>
                </a:solidFill>
              </a:defRPr>
            </a:pPr>
            <a:r>
              <a:t>Provide an interactive web interface for analysis, model interpretation and yield simulation.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69"/>
                </a:solidFill>
              </a:defRPr>
            </a:pPr>
            <a:r>
              <a:t>AGRIRAIN AI  •  Agriculture Rainfall Prediction using Gradient Boosting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372A"/>
                </a:solidFill>
              </a:defRPr>
            </a:pPr>
            <a:r>
              <a:t>4. Dataset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69"/>
                </a:solidFill>
              </a:defRPr>
            </a:pPr>
            <a:r>
              <a:t>Actual dataset used in the uploaded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011680" cy="1143000"/>
          </a:xfrm>
          <a:prstGeom prst="roundRect">
            <a:avLst/>
          </a:prstGeom>
          <a:solidFill>
            <a:srgbClr val="EFF8F2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6E69"/>
                </a:solidFill>
              </a:defRPr>
            </a:pPr>
            <a:r>
              <a:t>Records</a:t>
            </a:r>
          </a:p>
          <a:p>
            <a:pPr algn="ctr">
              <a:defRPr sz="2300" b="1">
                <a:solidFill>
                  <a:srgbClr val="13372A"/>
                </a:solidFill>
              </a:defRPr>
            </a:pPr>
            <a:r>
              <a:t>19,689</a:t>
            </a:r>
          </a:p>
          <a:p>
            <a:pPr algn="ctr">
              <a:defRPr sz="900">
                <a:solidFill>
                  <a:srgbClr val="646E69"/>
                </a:solidFill>
              </a:defRPr>
            </a:pPr>
            <a:r>
              <a:t>agricultural observations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1325880"/>
            <a:ext cx="2011680" cy="1143000"/>
          </a:xfrm>
          <a:prstGeom prst="roundRect">
            <a:avLst/>
          </a:prstGeom>
          <a:solidFill>
            <a:srgbClr val="EFF8F2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6E69"/>
                </a:solidFill>
              </a:defRPr>
            </a:pPr>
            <a:r>
              <a:t>Crops</a:t>
            </a:r>
          </a:p>
          <a:p>
            <a:pPr algn="ctr">
              <a:defRPr sz="2300" b="1">
                <a:solidFill>
                  <a:srgbClr val="13372A"/>
                </a:solidFill>
              </a:defRPr>
            </a:pPr>
            <a:r>
              <a:t>55</a:t>
            </a:r>
          </a:p>
          <a:p>
            <a:pPr algn="ctr">
              <a:defRPr sz="900">
                <a:solidFill>
                  <a:srgbClr val="646E69"/>
                </a:solidFill>
              </a:defRPr>
            </a:pPr>
            <a:r>
              <a:t>crop categories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325880"/>
            <a:ext cx="2011680" cy="1143000"/>
          </a:xfrm>
          <a:prstGeom prst="roundRect">
            <a:avLst/>
          </a:prstGeom>
          <a:solidFill>
            <a:srgbClr val="EFF8F2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6E69"/>
                </a:solidFill>
              </a:defRPr>
            </a:pPr>
            <a:r>
              <a:t>States</a:t>
            </a:r>
          </a:p>
          <a:p>
            <a:pPr algn="ctr">
              <a:defRPr sz="2300" b="1">
                <a:solidFill>
                  <a:srgbClr val="13372A"/>
                </a:solidFill>
              </a:defRPr>
            </a:pPr>
            <a:r>
              <a:t>30</a:t>
            </a:r>
          </a:p>
          <a:p>
            <a:pPr algn="ctr">
              <a:defRPr sz="900">
                <a:solidFill>
                  <a:srgbClr val="646E69"/>
                </a:solidFill>
              </a:defRPr>
            </a:pPr>
            <a:r>
              <a:t>Indian states / regions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325880"/>
            <a:ext cx="2011680" cy="1143000"/>
          </a:xfrm>
          <a:prstGeom prst="roundRect">
            <a:avLst/>
          </a:prstGeom>
          <a:solidFill>
            <a:srgbClr val="EFF8F2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6E69"/>
                </a:solidFill>
              </a:defRPr>
            </a:pPr>
            <a:r>
              <a:t>Seasons</a:t>
            </a:r>
          </a:p>
          <a:p>
            <a:pPr algn="ctr">
              <a:defRPr sz="2300" b="1">
                <a:solidFill>
                  <a:srgbClr val="13372A"/>
                </a:solidFill>
              </a:defRPr>
            </a:pPr>
            <a:r>
              <a:t>6</a:t>
            </a:r>
          </a:p>
          <a:p>
            <a:pPr algn="ctr">
              <a:defRPr sz="900">
                <a:solidFill>
                  <a:srgbClr val="646E69"/>
                </a:solidFill>
              </a:defRPr>
            </a:pPr>
            <a:r>
              <a:t>season categories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325880"/>
            <a:ext cx="2011680" cy="1143000"/>
          </a:xfrm>
          <a:prstGeom prst="roundRect">
            <a:avLst/>
          </a:prstGeom>
          <a:solidFill>
            <a:srgbClr val="EFF8F2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6E69"/>
                </a:solidFill>
              </a:defRPr>
            </a:pPr>
            <a:r>
              <a:t>Years</a:t>
            </a:r>
          </a:p>
          <a:p>
            <a:pPr algn="ctr">
              <a:defRPr sz="2300" b="1">
                <a:solidFill>
                  <a:srgbClr val="13372A"/>
                </a:solidFill>
              </a:defRPr>
            </a:pPr>
            <a:r>
              <a:t>1997–2020</a:t>
            </a:r>
          </a:p>
          <a:p>
            <a:pPr algn="ctr">
              <a:defRPr sz="900">
                <a:solidFill>
                  <a:srgbClr val="646E69"/>
                </a:solidFill>
              </a:defRPr>
            </a:pPr>
            <a:r>
              <a:t>historical period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D28"/>
                </a:solidFill>
              </a:defRPr>
            </a:pPr>
            <a:r>
              <a:t>Columns: Crop, Crop_Year, Season, State, Area, Production, Annual_Rainfall, Fertilizer, Pesticide and Yield.</a:t>
            </a:r>
          </a:p>
          <a:p>
            <a:pPr>
              <a:spcAft>
                <a:spcPts val="1200"/>
              </a:spcAft>
              <a:defRPr sz="1600">
                <a:solidFill>
                  <a:srgbClr val="232D28"/>
                </a:solidFill>
              </a:defRPr>
            </a:pPr>
            <a:r>
              <a:t>Categorical variables: Crop, Season and State. Numerical variables: Crop_Year, Area, Production, Annual_Rainfall, Fertilizer and Pesticide.</a:t>
            </a:r>
          </a:p>
          <a:p>
            <a:pPr>
              <a:spcAft>
                <a:spcPts val="1200"/>
              </a:spcAft>
              <a:defRPr sz="1600">
                <a:solidFill>
                  <a:srgbClr val="232D28"/>
                </a:solidFill>
              </a:defRPr>
            </a:pPr>
            <a:r>
              <a:t>Yield is the primary target variable for the regression model.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69"/>
                </a:solidFill>
              </a:defRPr>
            </a:pPr>
            <a:r>
              <a:t>AGRIRAIN AI  •  Agriculture Rainfall Prediction using Gradient Boosting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372A"/>
                </a:solidFill>
              </a:defRPr>
            </a:pPr>
            <a:r>
              <a:t>5. Data Preprocessing &amp;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69"/>
                </a:solidFill>
              </a:defRPr>
            </a:pPr>
            <a:r>
              <a:t>Preparing the data for reliable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D28"/>
                </a:solidFill>
              </a:defRPr>
            </a:pPr>
            <a:r>
              <a:t>CSV data is loaded using Pandas and required columns are validated.</a:t>
            </a:r>
          </a:p>
          <a:p>
            <a:pPr>
              <a:spcAft>
                <a:spcPts val="1200"/>
              </a:spcAft>
              <a:defRPr sz="1600">
                <a:solidFill>
                  <a:srgbClr val="232D28"/>
                </a:solidFill>
              </a:defRPr>
            </a:pPr>
            <a:r>
              <a:t>Categorical values are stripped of unwanted leading/trailing spaces before analysis.</a:t>
            </a:r>
          </a:p>
          <a:p>
            <a:pPr>
              <a:spcAft>
                <a:spcPts val="1200"/>
              </a:spcAft>
              <a:defRPr sz="1600">
                <a:solidFill>
                  <a:srgbClr val="232D28"/>
                </a:solidFill>
              </a:defRPr>
            </a:pPr>
            <a:r>
              <a:t>Dataset structure, missing values, duplicates, zero-yield and zero-production records are checked.</a:t>
            </a:r>
          </a:p>
          <a:p>
            <a:pPr>
              <a:spcAft>
                <a:spcPts val="1200"/>
              </a:spcAft>
              <a:defRPr sz="1600">
                <a:solidFill>
                  <a:srgbClr val="232D28"/>
                </a:solidFill>
              </a:defRPr>
            </a:pPr>
            <a:r>
              <a:t>Categorical variables are encoded using OneHotEncoder with handle_unknown='ignore'.</a:t>
            </a:r>
          </a:p>
          <a:p>
            <a:pPr>
              <a:spcAft>
                <a:spcPts val="1200"/>
              </a:spcAft>
              <a:defRPr sz="1600">
                <a:solidFill>
                  <a:srgbClr val="232D28"/>
                </a:solidFill>
              </a:defRPr>
            </a:pPr>
            <a:r>
              <a:t>Numerical variables are passed directly to the model.</a:t>
            </a:r>
          </a:p>
          <a:p>
            <a:pPr>
              <a:spcAft>
                <a:spcPts val="1200"/>
              </a:spcAft>
              <a:defRPr sz="1600">
                <a:solidFill>
                  <a:srgbClr val="232D28"/>
                </a:solidFill>
              </a:defRPr>
            </a:pPr>
            <a:r>
              <a:t>The same preprocessing is placed inside a Scikit-learn Pipeline so training and prediction use consistent transformations.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69"/>
                </a:solidFill>
              </a:defRPr>
            </a:pPr>
            <a:r>
              <a:t>AGRIRAIN AI  •  Agriculture Rainfall Prediction using Gradient Boosting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372A"/>
                </a:solidFill>
              </a:defRPr>
            </a:pPr>
            <a:r>
              <a:t>6. Exploratory Data Analysis (EDA)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69"/>
                </a:solidFill>
              </a:defRPr>
            </a:pPr>
            <a:r>
              <a:t>Understanding the agricultural data before modelling</a:t>
            </a:r>
          </a:p>
        </p:txBody>
      </p:sp>
      <p:pic>
        <p:nvPicPr>
          <p:cNvPr id="4" name="Picture 3" descr="crop_y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486400" cy="4389120"/>
          </a:xfrm>
          <a:prstGeom prst="rect">
            <a:avLst/>
          </a:prstGeom>
        </p:spPr>
      </p:pic>
      <p:pic>
        <p:nvPicPr>
          <p:cNvPr id="5" name="Picture 4" descr="rainfall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521208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69"/>
                </a:solidFill>
              </a:defRPr>
            </a:pPr>
            <a:r>
              <a:t>EDA modules: crop distribution • state distribution • season distribution • rainfall distribution • yield distribution • average yield • total 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69"/>
                </a:solidFill>
              </a:defRPr>
            </a:pPr>
            <a:r>
              <a:t>AGRIRAIN AI  •  Agriculture Rainfall Prediction using Gradient Boosting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372A"/>
                </a:solidFill>
              </a:defRPr>
            </a:pPr>
            <a:r>
              <a:t>7. Time &amp; Rainfall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69"/>
                </a:solidFill>
              </a:defRPr>
            </a:pPr>
            <a:r>
              <a:t>Finding changes across the historical period</a:t>
            </a:r>
          </a:p>
        </p:txBody>
      </p:sp>
      <p:pic>
        <p:nvPicPr>
          <p:cNvPr id="4" name="Picture 3" descr="rainfall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486400" cy="4343400"/>
          </a:xfrm>
          <a:prstGeom prst="rect">
            <a:avLst/>
          </a:prstGeom>
        </p:spPr>
      </p:pic>
      <p:pic>
        <p:nvPicPr>
          <p:cNvPr id="5" name="Picture 4" descr="yield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521208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5321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232D28"/>
                </a:solidFill>
              </a:defRPr>
            </a:pPr>
            <a:r>
              <a:t>The application aggregates records by Crop_Year.</a:t>
            </a:r>
          </a:p>
          <a:p>
            <a:pPr>
              <a:spcAft>
                <a:spcPts val="1200"/>
              </a:spcAft>
              <a:defRPr sz="1100">
                <a:solidFill>
                  <a:srgbClr val="232D28"/>
                </a:solidFill>
              </a:defRPr>
            </a:pPr>
            <a:r>
              <a:t>Average rainfall is tracked year-by-year and compared with average yield.</a:t>
            </a:r>
          </a:p>
          <a:p>
            <a:pPr>
              <a:spcAft>
                <a:spcPts val="1200"/>
              </a:spcAft>
              <a:defRPr sz="1100">
                <a:solidFill>
                  <a:srgbClr val="232D28"/>
                </a:solidFill>
              </a:defRPr>
            </a:pPr>
            <a:r>
              <a:t>Total production, crop activity and seasonal yield trends can also be explored.</a:t>
            </a:r>
          </a:p>
          <a:p>
            <a:pPr>
              <a:spcAft>
                <a:spcPts val="1200"/>
              </a:spcAft>
              <a:defRPr sz="1100">
                <a:solidFill>
                  <a:srgbClr val="232D28"/>
                </a:solidFill>
              </a:defRPr>
            </a:pPr>
            <a:r>
              <a:t>Trend slopes are calculated using a linear fit for descriptive analysis.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69"/>
                </a:solidFill>
              </a:defRPr>
            </a:pPr>
            <a:r>
              <a:t>AGRIRAIN AI  •  Agriculture Rainfall Prediction using Gradient Boosting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372A"/>
                </a:solidFill>
              </a:defRPr>
            </a:pPr>
            <a:r>
              <a:t>8. Relationship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69"/>
                </a:solidFill>
              </a:defRPr>
            </a:pPr>
            <a:r>
              <a:t>Rainfall is only one part of the yield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D28"/>
                </a:solidFill>
              </a:defRPr>
            </a:pPr>
            <a:r>
              <a:t>Pearson correlation is used to measure linear relationships.</a:t>
            </a:r>
          </a:p>
          <a:p>
            <a:pPr>
              <a:spcAft>
                <a:spcPts val="1200"/>
              </a:spcAft>
              <a:defRPr sz="1600">
                <a:solidFill>
                  <a:srgbClr val="232D28"/>
                </a:solidFill>
              </a:defRPr>
            </a:pPr>
            <a:r>
              <a:t>Spearman correlation is also calculated because agricultural data contains outliers and non-linear patterns.</a:t>
            </a:r>
          </a:p>
          <a:p>
            <a:pPr>
              <a:spcAft>
                <a:spcPts val="1200"/>
              </a:spcAft>
              <a:defRPr sz="1600">
                <a:solidFill>
                  <a:srgbClr val="232D28"/>
                </a:solidFill>
              </a:defRPr>
            </a:pPr>
            <a:r>
              <a:t>Scatter plots compare Annual_Rainfall, Area, Production, Fertilizer and Pesticide with Yield.</a:t>
            </a:r>
          </a:p>
          <a:p>
            <a:pPr>
              <a:spcAft>
                <a:spcPts val="1200"/>
              </a:spcAft>
              <a:defRPr sz="1600">
                <a:solidFill>
                  <a:srgbClr val="232D28"/>
                </a:solidFill>
              </a:defRPr>
            </a:pPr>
            <a:r>
              <a:t>An important modelling insight is that rainfall alone is not sufficient to explain yield across all crops.</a:t>
            </a:r>
          </a:p>
          <a:p>
            <a:pPr>
              <a:spcAft>
                <a:spcPts val="1200"/>
              </a:spcAft>
              <a:defRPr sz="1600">
                <a:solidFill>
                  <a:srgbClr val="232D28"/>
                </a:solidFill>
              </a:defRPr>
            </a:pPr>
            <a:r>
              <a:t>Crop type, geography, production scale and agricultural inputs must be considered together.</a:t>
            </a:r>
          </a:p>
          <a:p>
            <a:pPr>
              <a:spcAft>
                <a:spcPts val="1200"/>
              </a:spcAft>
              <a:defRPr sz="1600">
                <a:solidFill>
                  <a:srgbClr val="232D28"/>
                </a:solidFill>
              </a:defRPr>
            </a:pPr>
            <a:r>
              <a:t>Correlation is interpreted as association, not proof of causation.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69"/>
                </a:solidFill>
              </a:defRPr>
            </a:pPr>
            <a:r>
              <a:t>AGRIRAIN AI  •  Agriculture Rainfall Prediction using Gradient Boosting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372A"/>
                </a:solidFill>
              </a:defRPr>
            </a:pPr>
            <a:r>
              <a:t>9. Proposed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69"/>
                </a:solidFill>
              </a:defRPr>
            </a:pPr>
            <a:r>
              <a:t>End-to-end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94560"/>
            <a:ext cx="1417320" cy="1143000"/>
          </a:xfrm>
          <a:prstGeom prst="roundRect">
            <a:avLst/>
          </a:prstGeom>
          <a:solidFill>
            <a:srgbClr val="EFF8F2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E8B57"/>
                </a:solidFill>
              </a:defRPr>
            </a:pPr>
            <a:r>
              <a:t>1</a:t>
            </a:r>
          </a:p>
          <a:p>
            <a:pPr algn="ctr">
              <a:defRPr sz="1000" b="1">
                <a:solidFill>
                  <a:srgbClr val="13372A"/>
                </a:solidFill>
              </a:defRPr>
            </a:pPr>
            <a:r>
              <a:t>CSV Dataset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20240" y="2560320"/>
            <a:ext cx="256032" cy="320040"/>
          </a:xfrm>
          <a:prstGeom prst="rightArrow">
            <a:avLst/>
          </a:prstGeom>
          <a:solidFill>
            <a:srgbClr val="DA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167128" y="2194560"/>
            <a:ext cx="1417320" cy="1143000"/>
          </a:xfrm>
          <a:prstGeom prst="roundRect">
            <a:avLst/>
          </a:prstGeom>
          <a:solidFill>
            <a:srgbClr val="EFF8F2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E8B57"/>
                </a:solidFill>
              </a:defRPr>
            </a:pPr>
            <a:r>
              <a:t>2</a:t>
            </a:r>
          </a:p>
          <a:p>
            <a:pPr algn="ctr">
              <a:defRPr sz="1000" b="1">
                <a:solidFill>
                  <a:srgbClr val="13372A"/>
                </a:solidFill>
              </a:defRPr>
            </a:pPr>
            <a:r>
              <a:t>Data Validation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84448" y="2560320"/>
            <a:ext cx="256032" cy="320040"/>
          </a:xfrm>
          <a:prstGeom prst="rightArrow">
            <a:avLst/>
          </a:prstGeom>
          <a:solidFill>
            <a:srgbClr val="DA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31336" y="2194560"/>
            <a:ext cx="1417320" cy="1143000"/>
          </a:xfrm>
          <a:prstGeom prst="roundRect">
            <a:avLst/>
          </a:prstGeom>
          <a:solidFill>
            <a:srgbClr val="EFF8F2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E8B57"/>
                </a:solidFill>
              </a:defRPr>
            </a:pPr>
            <a:r>
              <a:t>3</a:t>
            </a:r>
          </a:p>
          <a:p>
            <a:pPr algn="ctr">
              <a:defRPr sz="1000" b="1">
                <a:solidFill>
                  <a:srgbClr val="13372A"/>
                </a:solidFill>
              </a:defRPr>
            </a:pPr>
            <a:r>
              <a:t>EDA &amp; Statistics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48656" y="2560320"/>
            <a:ext cx="256032" cy="320040"/>
          </a:xfrm>
          <a:prstGeom prst="rightArrow">
            <a:avLst/>
          </a:prstGeom>
          <a:solidFill>
            <a:srgbClr val="DA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95544" y="2194560"/>
            <a:ext cx="1417320" cy="1143000"/>
          </a:xfrm>
          <a:prstGeom prst="roundRect">
            <a:avLst/>
          </a:prstGeom>
          <a:solidFill>
            <a:srgbClr val="EFF8F2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E8B57"/>
                </a:solidFill>
              </a:defRPr>
            </a:pPr>
            <a:r>
              <a:t>4</a:t>
            </a:r>
          </a:p>
          <a:p>
            <a:pPr algn="ctr">
              <a:defRPr sz="1000" b="1">
                <a:solidFill>
                  <a:srgbClr val="13372A"/>
                </a:solidFill>
              </a:defRPr>
            </a:pPr>
            <a:r>
              <a:t>Feature Encoding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912864" y="2560320"/>
            <a:ext cx="256032" cy="320040"/>
          </a:xfrm>
          <a:prstGeom prst="rightArrow">
            <a:avLst/>
          </a:prstGeom>
          <a:solidFill>
            <a:srgbClr val="DA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159752" y="2194560"/>
            <a:ext cx="1417320" cy="1143000"/>
          </a:xfrm>
          <a:prstGeom prst="roundRect">
            <a:avLst/>
          </a:prstGeom>
          <a:solidFill>
            <a:srgbClr val="EFF8F2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E8B57"/>
                </a:solidFill>
              </a:defRPr>
            </a:pPr>
            <a:r>
              <a:t>5</a:t>
            </a:r>
          </a:p>
          <a:p>
            <a:pPr algn="ctr">
              <a:defRPr sz="1000" b="1">
                <a:solidFill>
                  <a:srgbClr val="13372A"/>
                </a:solidFill>
              </a:defRPr>
            </a:pPr>
            <a:r>
              <a:t>Gradient Boosting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77072" y="2560320"/>
            <a:ext cx="256032" cy="320040"/>
          </a:xfrm>
          <a:prstGeom prst="rightArrow">
            <a:avLst/>
          </a:prstGeom>
          <a:solidFill>
            <a:srgbClr val="DA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823960" y="2194560"/>
            <a:ext cx="1417320" cy="1143000"/>
          </a:xfrm>
          <a:prstGeom prst="roundRect">
            <a:avLst/>
          </a:prstGeom>
          <a:solidFill>
            <a:srgbClr val="EFF8F2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E8B57"/>
                </a:solidFill>
              </a:defRPr>
            </a:pPr>
            <a:r>
              <a:t>6</a:t>
            </a:r>
          </a:p>
          <a:p>
            <a:pPr algn="ctr">
              <a:defRPr sz="1000" b="1">
                <a:solidFill>
                  <a:srgbClr val="13372A"/>
                </a:solidFill>
              </a:defRPr>
            </a:pPr>
            <a:r>
              <a:t>Evaluation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241280" y="2560320"/>
            <a:ext cx="256032" cy="320040"/>
          </a:xfrm>
          <a:prstGeom prst="rightArrow">
            <a:avLst/>
          </a:prstGeom>
          <a:solidFill>
            <a:srgbClr val="DA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88168" y="2194560"/>
            <a:ext cx="1417320" cy="1143000"/>
          </a:xfrm>
          <a:prstGeom prst="roundRect">
            <a:avLst/>
          </a:prstGeom>
          <a:solidFill>
            <a:srgbClr val="EFF8F2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E8B57"/>
                </a:solidFill>
              </a:defRPr>
            </a:pPr>
            <a:r>
              <a:t>7</a:t>
            </a:r>
          </a:p>
          <a:p>
            <a:pPr algn="ctr">
              <a:defRPr sz="1000" b="1">
                <a:solidFill>
                  <a:srgbClr val="13372A"/>
                </a:solidFill>
              </a:defRPr>
            </a:pPr>
            <a:r>
              <a:t>Web Forecast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148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D28"/>
                </a:solidFill>
              </a:defRPr>
            </a:pPr>
            <a:r>
              <a:t>Backend: Flask routes orchestrate data loading, analytics and model prediction.</a:t>
            </a:r>
          </a:p>
          <a:p>
            <a:pPr>
              <a:spcAft>
                <a:spcPts val="1200"/>
              </a:spcAft>
              <a:defRPr sz="1500">
                <a:solidFill>
                  <a:srgbClr val="232D28"/>
                </a:solidFill>
              </a:defRPr>
            </a:pPr>
            <a:r>
              <a:t>Analysis: Pandas + NumPy. Machine learning: Scikit-learn. Frontend charts: Plotly JavaScript.</a:t>
            </a:r>
          </a:p>
          <a:p>
            <a:pPr>
              <a:spcAft>
                <a:spcPts val="1200"/>
              </a:spcAft>
              <a:defRPr sz="1500">
                <a:solidFill>
                  <a:srgbClr val="232D28"/>
                </a:solidFill>
              </a:defRPr>
            </a:pPr>
            <a:r>
              <a:t>Model is cached after training so repeated page requests do not retrain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69"/>
                </a:solidFill>
              </a:defRPr>
            </a:pPr>
            <a:r>
              <a:t>AGRIRAIN AI  •  Agriculture Rainfall Prediction using Gradient Boosting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372A"/>
                </a:solidFill>
              </a:defRPr>
            </a:pPr>
            <a:r>
              <a:t>10. Gradient Boosting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69"/>
                </a:solidFill>
              </a:defRPr>
            </a:pPr>
            <a:r>
              <a:t>Primary machine 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6583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D28"/>
                </a:solidFill>
              </a:defRPr>
            </a:pPr>
            <a:r>
              <a:t>Gradient Boosting Regression is used because it can model complex non-linear relationships and interactions.</a:t>
            </a:r>
          </a:p>
          <a:p>
            <a:pPr>
              <a:spcAft>
                <a:spcPts val="1200"/>
              </a:spcAft>
              <a:defRPr sz="1500">
                <a:solidFill>
                  <a:srgbClr val="232D28"/>
                </a:solidFill>
              </a:defRPr>
            </a:pPr>
            <a:r>
              <a:t>200 boosting estimators are trained with learning_rate = 0.1.</a:t>
            </a:r>
          </a:p>
          <a:p>
            <a:pPr>
              <a:spcAft>
                <a:spcPts val="1200"/>
              </a:spcAft>
              <a:defRPr sz="1500">
                <a:solidFill>
                  <a:srgbClr val="232D28"/>
                </a:solidFill>
              </a:defRPr>
            </a:pPr>
            <a:r>
              <a:t>Maximum tree depth = 4 and subsample = 0.8 are used to balance learning and generalization.</a:t>
            </a:r>
          </a:p>
          <a:p>
            <a:pPr>
              <a:spcAft>
                <a:spcPts val="1200"/>
              </a:spcAft>
              <a:defRPr sz="1500">
                <a:solidFill>
                  <a:srgbClr val="232D28"/>
                </a:solidFill>
              </a:defRPr>
            </a:pPr>
            <a:r>
              <a:t>80% of records are used for training and 20% for testing; random_state = 42 ensures reproducibility.</a:t>
            </a:r>
          </a:p>
          <a:p>
            <a:pPr>
              <a:spcAft>
                <a:spcPts val="1200"/>
              </a:spcAft>
              <a:defRPr sz="1500">
                <a:solidFill>
                  <a:srgbClr val="232D28"/>
                </a:solidFill>
              </a:defRPr>
            </a:pPr>
            <a:r>
              <a:t>Categorical features are one-hot encoded before entering the Gradient Boosting regressor.</a:t>
            </a:r>
          </a:p>
          <a:p>
            <a:pPr>
              <a:spcAft>
                <a:spcPts val="1200"/>
              </a:spcAft>
              <a:defRPr sz="1500">
                <a:solidFill>
                  <a:srgbClr val="232D28"/>
                </a:solidFill>
              </a:defRPr>
            </a:pPr>
            <a:r>
              <a:t>Target: continuous Yield.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63040"/>
            <a:ext cx="3017520" cy="1234440"/>
          </a:xfrm>
          <a:prstGeom prst="roundRect">
            <a:avLst/>
          </a:prstGeom>
          <a:solidFill>
            <a:srgbClr val="EFF8F2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6E69"/>
                </a:solidFill>
              </a:defRPr>
            </a:pPr>
            <a:r>
              <a:t>Estimators</a:t>
            </a:r>
          </a:p>
          <a:p>
            <a:pPr algn="ctr">
              <a:defRPr sz="2300" b="1">
                <a:solidFill>
                  <a:srgbClr val="13372A"/>
                </a:solidFill>
              </a:defRPr>
            </a:pPr>
            <a:r>
              <a:t>200</a:t>
            </a:r>
          </a:p>
          <a:p>
            <a:pPr algn="ctr">
              <a:defRPr sz="900">
                <a:solidFill>
                  <a:srgbClr val="646E69"/>
                </a:solidFill>
              </a:defRPr>
            </a:pPr>
            <a:r>
              <a:t>Gradient Boosting trees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2971800"/>
            <a:ext cx="3017520" cy="1234440"/>
          </a:xfrm>
          <a:prstGeom prst="roundRect">
            <a:avLst/>
          </a:prstGeom>
          <a:solidFill>
            <a:srgbClr val="EFF8F2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6E69"/>
                </a:solidFill>
              </a:defRPr>
            </a:pPr>
            <a:r>
              <a:t>Train / Test</a:t>
            </a:r>
          </a:p>
          <a:p>
            <a:pPr algn="ctr">
              <a:defRPr sz="2300" b="1">
                <a:solidFill>
                  <a:srgbClr val="13372A"/>
                </a:solidFill>
              </a:defRPr>
            </a:pPr>
            <a:r>
              <a:t>80 / 20</a:t>
            </a:r>
          </a:p>
          <a:p>
            <a:pPr algn="ctr">
              <a:defRPr sz="900">
                <a:solidFill>
                  <a:srgbClr val="646E69"/>
                </a:solidFill>
              </a:defRPr>
            </a:pPr>
            <a:r>
              <a:t>data split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4480560"/>
            <a:ext cx="3017520" cy="1234440"/>
          </a:xfrm>
          <a:prstGeom prst="roundRect">
            <a:avLst/>
          </a:prstGeom>
          <a:solidFill>
            <a:srgbClr val="EFF8F2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6E69"/>
                </a:solidFill>
              </a:defRPr>
            </a:pPr>
            <a:r>
              <a:t>Learning Rate</a:t>
            </a:r>
          </a:p>
          <a:p>
            <a:pPr algn="ctr">
              <a:defRPr sz="2300" b="1">
                <a:solidFill>
                  <a:srgbClr val="13372A"/>
                </a:solidFill>
              </a:defRPr>
            </a:pPr>
            <a:r>
              <a:t>0.10</a:t>
            </a:r>
          </a:p>
          <a:p>
            <a:pPr algn="ctr">
              <a:defRPr sz="900">
                <a:solidFill>
                  <a:srgbClr val="646E69"/>
                </a:solidFill>
              </a:defRPr>
            </a:pPr>
            <a:r>
              <a:t>model parameter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69"/>
                </a:solidFill>
              </a:defRPr>
            </a:pPr>
            <a:r>
              <a:t>AGRIRAIN AI  •  Agriculture Rainfall Prediction using Gradient Boosting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372A"/>
                </a:solidFill>
              </a:defRPr>
            </a:pPr>
            <a:r>
              <a:t>11.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69"/>
                </a:solidFill>
              </a:defRPr>
            </a:pPr>
            <a:r>
              <a:t>Results from the implemented regression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00400" cy="1463040"/>
          </a:xfrm>
          <a:prstGeom prst="roundRect">
            <a:avLst/>
          </a:prstGeom>
          <a:solidFill>
            <a:srgbClr val="EFF8F2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6E69"/>
                </a:solidFill>
              </a:defRPr>
            </a:pPr>
            <a:r>
              <a:t>R² SCORE</a:t>
            </a:r>
          </a:p>
          <a:p>
            <a:pPr algn="ctr">
              <a:defRPr sz="2300" b="1">
                <a:solidFill>
                  <a:srgbClr val="13372A"/>
                </a:solidFill>
              </a:defRPr>
            </a:pPr>
            <a:r>
              <a:t>0.9862</a:t>
            </a:r>
          </a:p>
          <a:p>
            <a:pPr algn="ctr">
              <a:defRPr sz="900">
                <a:solidFill>
                  <a:srgbClr val="646E69"/>
                </a:solidFill>
              </a:defRPr>
            </a:pPr>
            <a:r>
              <a:t>variance explained on test 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371600"/>
            <a:ext cx="3200400" cy="1463040"/>
          </a:xfrm>
          <a:prstGeom prst="roundRect">
            <a:avLst/>
          </a:prstGeom>
          <a:solidFill>
            <a:srgbClr val="EFF8F2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6E69"/>
                </a:solidFill>
              </a:defRPr>
            </a:pPr>
            <a:r>
              <a:t>RMSE</a:t>
            </a:r>
          </a:p>
          <a:p>
            <a:pPr algn="ctr">
              <a:defRPr sz="2300" b="1">
                <a:solidFill>
                  <a:srgbClr val="13372A"/>
                </a:solidFill>
              </a:defRPr>
            </a:pPr>
            <a:r>
              <a:t>105.33</a:t>
            </a:r>
          </a:p>
          <a:p>
            <a:pPr algn="ctr">
              <a:defRPr sz="900">
                <a:solidFill>
                  <a:srgbClr val="646E69"/>
                </a:solidFill>
              </a:defRPr>
            </a:pPr>
            <a:r>
              <a:t>root mean squared error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371600"/>
            <a:ext cx="3200400" cy="1463040"/>
          </a:xfrm>
          <a:prstGeom prst="roundRect">
            <a:avLst/>
          </a:prstGeom>
          <a:solidFill>
            <a:srgbClr val="EFF8F2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6E69"/>
                </a:solidFill>
              </a:defRPr>
            </a:pPr>
            <a:r>
              <a:t>MAE</a:t>
            </a:r>
          </a:p>
          <a:p>
            <a:pPr algn="ctr">
              <a:defRPr sz="2300" b="1">
                <a:solidFill>
                  <a:srgbClr val="13372A"/>
                </a:solidFill>
              </a:defRPr>
            </a:pPr>
            <a:r>
              <a:t>8.39</a:t>
            </a:r>
          </a:p>
          <a:p>
            <a:pPr algn="ctr">
              <a:defRPr sz="900">
                <a:solidFill>
                  <a:srgbClr val="646E69"/>
                </a:solidFill>
              </a:defRPr>
            </a:pPr>
            <a:r>
              <a:t>mean absolute 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D28"/>
                </a:solidFill>
              </a:defRPr>
            </a:pPr>
            <a:r>
              <a:t>Training records: 15,751. Test records: 3,938.</a:t>
            </a:r>
          </a:p>
          <a:p>
            <a:pPr>
              <a:spcAft>
                <a:spcPts val="1200"/>
              </a:spcAft>
              <a:defRPr sz="1600">
                <a:solidFill>
                  <a:srgbClr val="232D28"/>
                </a:solidFill>
              </a:defRPr>
            </a:pPr>
            <a:r>
              <a:t>R² close to 1 indicates very strong predictive fit on this dataset.</a:t>
            </a:r>
          </a:p>
          <a:p>
            <a:pPr>
              <a:spcAft>
                <a:spcPts val="1200"/>
              </a:spcAft>
              <a:defRPr sz="1600">
                <a:solidFill>
                  <a:srgbClr val="232D28"/>
                </a:solidFill>
              </a:defRPr>
            </a:pPr>
            <a:r>
              <a:t>RMSE is more sensitive to large prediction errors, while MAE gives the average absolute deviation.</a:t>
            </a:r>
          </a:p>
          <a:p>
            <a:pPr>
              <a:spcAft>
                <a:spcPts val="1200"/>
              </a:spcAft>
              <a:defRPr sz="1600">
                <a:solidFill>
                  <a:srgbClr val="232D28"/>
                </a:solidFill>
              </a:defRPr>
            </a:pPr>
            <a:r>
              <a:t>These metrics describe performance on the held-out test set and should be interpreted in the context of the dataset and target definition.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69"/>
                </a:solidFill>
              </a:defRPr>
            </a:pPr>
            <a:r>
              <a:t>AGRIRAIN AI  •  Agriculture Rainfall Prediction using Gradient Boosting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372A"/>
                </a:solidFill>
              </a:defRPr>
            </a:pPr>
            <a:r>
              <a:t>12. Feature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69"/>
                </a:solidFill>
              </a:defRPr>
            </a:pPr>
            <a:r>
              <a:t>Which inputs contribute most to the model?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40080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931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32D28"/>
                </a:solidFill>
              </a:defRPr>
            </a:pPr>
            <a:r>
              <a:t>Feature importance is extracted directly from the trained Gradient Boosting model.</a:t>
            </a:r>
          </a:p>
          <a:p>
            <a:pPr>
              <a:spcAft>
                <a:spcPts val="1200"/>
              </a:spcAft>
              <a:defRPr sz="1300">
                <a:solidFill>
                  <a:srgbClr val="232D28"/>
                </a:solidFill>
              </a:defRPr>
            </a:pPr>
            <a:r>
              <a:t>Categorical one-hot features are aggregated back to their original variables for easier interpretation.</a:t>
            </a:r>
          </a:p>
          <a:p>
            <a:pPr>
              <a:spcAft>
                <a:spcPts val="1200"/>
              </a:spcAft>
              <a:defRPr sz="1300">
                <a:solidFill>
                  <a:srgbClr val="232D28"/>
                </a:solidFill>
              </a:defRPr>
            </a:pPr>
            <a:r>
              <a:t>Top grouped feature: Crop (0.828).</a:t>
            </a:r>
          </a:p>
          <a:p>
            <a:pPr>
              <a:spcAft>
                <a:spcPts val="1200"/>
              </a:spcAft>
              <a:defRPr sz="1300">
                <a:solidFill>
                  <a:srgbClr val="232D28"/>
                </a:solidFill>
              </a:defRPr>
            </a:pPr>
            <a:r>
              <a:t>Importance indicates contribution to the model's split-based prediction process; it does not prove causation.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69"/>
                </a:solidFill>
              </a:defRPr>
            </a:pPr>
            <a:r>
              <a:t>AGRIRAIN AI  •  Agriculture Rainfall Prediction using Gradient Boosting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372A"/>
                </a:solidFill>
              </a:defRPr>
            </a:pPr>
            <a:r>
              <a:t>13. Supplementary Yield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69"/>
                </a:solidFill>
              </a:defRPr>
            </a:pPr>
            <a:r>
              <a:t>Low / Medium / High yield categories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02920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035040" y="1325880"/>
            <a:ext cx="2377440" cy="1188720"/>
          </a:xfrm>
          <a:prstGeom prst="roundRect">
            <a:avLst/>
          </a:prstGeom>
          <a:solidFill>
            <a:srgbClr val="EFF8F2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6E69"/>
                </a:solidFill>
              </a:defRPr>
            </a:pPr>
            <a:r>
              <a:t>ACCURACY</a:t>
            </a:r>
          </a:p>
          <a:p>
            <a:pPr algn="ctr">
              <a:defRPr sz="2300" b="1">
                <a:solidFill>
                  <a:srgbClr val="13372A"/>
                </a:solidFill>
              </a:defRPr>
            </a:pPr>
            <a:r>
              <a:t>0.851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1325880"/>
            <a:ext cx="2377440" cy="1188720"/>
          </a:xfrm>
          <a:prstGeom prst="roundRect">
            <a:avLst/>
          </a:prstGeom>
          <a:solidFill>
            <a:srgbClr val="EFF8F2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6E69"/>
                </a:solidFill>
              </a:defRPr>
            </a:pPr>
            <a:r>
              <a:t>MACRO F1</a:t>
            </a:r>
          </a:p>
          <a:p>
            <a:pPr algn="ctr">
              <a:defRPr sz="2300" b="1">
                <a:solidFill>
                  <a:srgbClr val="13372A"/>
                </a:solidFill>
              </a:defRPr>
            </a:pPr>
            <a:r>
              <a:t>0.853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92608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32D28"/>
                </a:solidFill>
              </a:defRPr>
            </a:pPr>
            <a:r>
              <a:t>Yield is divided into three classes using the 33rd and 67th percentiles.</a:t>
            </a:r>
          </a:p>
          <a:p>
            <a:pPr>
              <a:spcAft>
                <a:spcPts val="1200"/>
              </a:spcAft>
              <a:defRPr sz="1400">
                <a:solidFill>
                  <a:srgbClr val="232D28"/>
                </a:solidFill>
              </a:defRPr>
            </a:pPr>
            <a:r>
              <a:t>Labels: Low, Medium and High.</a:t>
            </a:r>
          </a:p>
          <a:p>
            <a:pPr>
              <a:spcAft>
                <a:spcPts val="1200"/>
              </a:spcAft>
              <a:defRPr sz="1400">
                <a:solidFill>
                  <a:srgbClr val="232D28"/>
                </a:solidFill>
              </a:defRPr>
            </a:pPr>
            <a:r>
              <a:t>A separate Gradient Boosting Classifier is trained using the same feature pipeline.</a:t>
            </a:r>
          </a:p>
          <a:p>
            <a:pPr>
              <a:spcAft>
                <a:spcPts val="1200"/>
              </a:spcAft>
              <a:defRPr sz="1400">
                <a:solidFill>
                  <a:srgbClr val="232D28"/>
                </a:solidFill>
              </a:defRPr>
            </a:pPr>
            <a:r>
              <a:t>The confusion matrix shows how correctly the three yield categories are separated.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69"/>
                </a:solidFill>
              </a:defRPr>
            </a:pPr>
            <a:r>
              <a:t>AGRIRAIN AI  •  Agriculture Rainfall Prediction using Gradient Boosting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372A"/>
                </a:solidFill>
              </a:defRPr>
            </a:pPr>
            <a:r>
              <a:t>14. Web Application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69"/>
                </a:solidFill>
              </a:defRPr>
            </a:pPr>
            <a:r>
              <a:t>What the user can do in AGRIRAIN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257800" cy="960120"/>
          </a:xfrm>
          <a:prstGeom prst="roundRect">
            <a:avLst/>
          </a:prstGeom>
          <a:solidFill>
            <a:srgbClr val="EFF8F2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372A"/>
                </a:solidFill>
              </a:defRPr>
            </a:pPr>
            <a:r>
              <a:t>Overview</a:t>
            </a:r>
          </a:p>
          <a:p>
            <a:pPr>
              <a:defRPr sz="1050">
                <a:solidFill>
                  <a:srgbClr val="232D28"/>
                </a:solidFill>
              </a:defRPr>
            </a:pPr>
            <a:r>
              <a:t>Dataset summary, key statistics and high-level charts.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34440"/>
            <a:ext cx="5257800" cy="960120"/>
          </a:xfrm>
          <a:prstGeom prst="roundRect">
            <a:avLst/>
          </a:prstGeom>
          <a:solidFill>
            <a:srgbClr val="EFF8F2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372A"/>
                </a:solidFill>
              </a:defRPr>
            </a:pPr>
            <a:r>
              <a:t>Data Quality</a:t>
            </a:r>
          </a:p>
          <a:p>
            <a:pPr>
              <a:defRPr sz="1050">
                <a:solidFill>
                  <a:srgbClr val="232D28"/>
                </a:solidFill>
              </a:defRPr>
            </a:pPr>
            <a:r>
              <a:t>Missing values, duplicates, data types and completeness.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5257800" cy="960120"/>
          </a:xfrm>
          <a:prstGeom prst="roundRect">
            <a:avLst/>
          </a:prstGeom>
          <a:solidFill>
            <a:srgbClr val="EFF8F2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372A"/>
                </a:solidFill>
              </a:defRPr>
            </a:pPr>
            <a:r>
              <a:t>EDA</a:t>
            </a:r>
          </a:p>
          <a:p>
            <a:pPr>
              <a:defRPr sz="1050">
                <a:solidFill>
                  <a:srgbClr val="232D28"/>
                </a:solidFill>
              </a:defRPr>
            </a:pPr>
            <a:r>
              <a:t>Crop, state, season, rainfall, yield and production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468880"/>
            <a:ext cx="5257800" cy="960120"/>
          </a:xfrm>
          <a:prstGeom prst="roundRect">
            <a:avLst/>
          </a:prstGeom>
          <a:solidFill>
            <a:srgbClr val="EFF8F2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372A"/>
                </a:solidFill>
              </a:defRPr>
            </a:pPr>
            <a:r>
              <a:t>Time Analysis</a:t>
            </a:r>
          </a:p>
          <a:p>
            <a:pPr>
              <a:defRPr sz="1050">
                <a:solidFill>
                  <a:srgbClr val="232D28"/>
                </a:solidFill>
              </a:defRPr>
            </a:pPr>
            <a:r>
              <a:t>Year-wise rainfall, yield, production and seasonal trends.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03320"/>
            <a:ext cx="5257800" cy="960120"/>
          </a:xfrm>
          <a:prstGeom prst="roundRect">
            <a:avLst/>
          </a:prstGeom>
          <a:solidFill>
            <a:srgbClr val="EFF8F2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372A"/>
                </a:solidFill>
              </a:defRPr>
            </a:pPr>
            <a:r>
              <a:t>Relationships</a:t>
            </a:r>
          </a:p>
          <a:p>
            <a:pPr>
              <a:defRPr sz="1050">
                <a:solidFill>
                  <a:srgbClr val="232D28"/>
                </a:solidFill>
              </a:defRPr>
            </a:pPr>
            <a:r>
              <a:t>Correlation heatmap and variable-vs-yield scatter plots.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703320"/>
            <a:ext cx="5257800" cy="960120"/>
          </a:xfrm>
          <a:prstGeom prst="roundRect">
            <a:avLst/>
          </a:prstGeom>
          <a:solidFill>
            <a:srgbClr val="EFF8F2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372A"/>
                </a:solidFill>
              </a:defRPr>
            </a:pPr>
            <a:r>
              <a:t>Gradient Boosting</a:t>
            </a:r>
          </a:p>
          <a:p>
            <a:pPr>
              <a:defRPr sz="1050">
                <a:solidFill>
                  <a:srgbClr val="232D28"/>
                </a:solidFill>
              </a:defRPr>
            </a:pPr>
            <a:r>
              <a:t>Metrics, actual-vs-predicted plot, residuals and feature importance.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37760"/>
            <a:ext cx="5257800" cy="960120"/>
          </a:xfrm>
          <a:prstGeom prst="roundRect">
            <a:avLst/>
          </a:prstGeom>
          <a:solidFill>
            <a:srgbClr val="EFF8F2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372A"/>
                </a:solidFill>
              </a:defRPr>
            </a:pPr>
            <a:r>
              <a:t>Forecast</a:t>
            </a:r>
          </a:p>
          <a:p>
            <a:pPr>
              <a:defRPr sz="1050">
                <a:solidFill>
                  <a:srgbClr val="232D28"/>
                </a:solidFill>
              </a:defRPr>
            </a:pPr>
            <a:r>
              <a:t>Interactive yield prediction using user-selected agricultural inputs.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937760"/>
            <a:ext cx="5257800" cy="960120"/>
          </a:xfrm>
          <a:prstGeom prst="roundRect">
            <a:avLst/>
          </a:prstGeom>
          <a:solidFill>
            <a:srgbClr val="EFF8F2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372A"/>
                </a:solidFill>
              </a:defRPr>
            </a:pPr>
            <a:r>
              <a:t>Findings</a:t>
            </a:r>
          </a:p>
          <a:p>
            <a:pPr>
              <a:defRPr sz="1050">
                <a:solidFill>
                  <a:srgbClr val="232D28"/>
                </a:solidFill>
              </a:defRPr>
            </a:pPr>
            <a:r>
              <a:t>Conclusions and insights derived from data and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69"/>
                </a:solidFill>
              </a:defRPr>
            </a:pPr>
            <a:r>
              <a:t>AGRIRAIN AI  •  Agriculture Rainfall Prediction using Gradient Boosting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372A"/>
                </a:solidFill>
              </a:defRPr>
            </a:pPr>
            <a:r>
              <a:t>15. Forecast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69"/>
                </a:solidFill>
              </a:defRPr>
            </a:pPr>
            <a:r>
              <a:t>From analysis to an interactive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D28"/>
                </a:solidFill>
              </a:defRPr>
            </a:pPr>
            <a:r>
              <a:t>User selects State, Crop and Season from valid dataset categories.</a:t>
            </a:r>
          </a:p>
          <a:p>
            <a:pPr>
              <a:spcAft>
                <a:spcPts val="1200"/>
              </a:spcAft>
              <a:defRPr sz="1600">
                <a:solidFill>
                  <a:srgbClr val="232D28"/>
                </a:solidFill>
              </a:defRPr>
            </a:pPr>
            <a:r>
              <a:t>User enters Crop Year, Area, Production, Annual Rainfall, Fertilizer and Pesticide values.</a:t>
            </a:r>
          </a:p>
          <a:p>
            <a:pPr>
              <a:spcAft>
                <a:spcPts val="1200"/>
              </a:spcAft>
              <a:defRPr sz="1600">
                <a:solidFill>
                  <a:srgbClr val="232D28"/>
                </a:solidFill>
              </a:defRPr>
            </a:pPr>
            <a:r>
              <a:t>The same trained preprocessing + Gradient Boosting pipeline receives the input.</a:t>
            </a:r>
          </a:p>
          <a:p>
            <a:pPr>
              <a:spcAft>
                <a:spcPts val="1200"/>
              </a:spcAft>
              <a:defRPr sz="1600">
                <a:solidFill>
                  <a:srgbClr val="232D28"/>
                </a:solidFill>
              </a:defRPr>
            </a:pPr>
            <a:r>
              <a:t>The system returns a predicted continuous Yield value.</a:t>
            </a:r>
          </a:p>
          <a:p>
            <a:pPr>
              <a:spcAft>
                <a:spcPts val="1200"/>
              </a:spcAft>
              <a:defRPr sz="1600">
                <a:solidFill>
                  <a:srgbClr val="232D28"/>
                </a:solidFill>
              </a:defRPr>
            </a:pPr>
            <a:r>
              <a:t>Input validation prevents invalid categories and values outside the dataset's supported year range.</a:t>
            </a:r>
          </a:p>
          <a:p>
            <a:pPr>
              <a:spcAft>
                <a:spcPts val="1200"/>
              </a:spcAft>
              <a:defRPr sz="1600">
                <a:solidFill>
                  <a:srgbClr val="232D28"/>
                </a:solidFill>
              </a:defRPr>
            </a:pPr>
            <a:r>
              <a:t>This module demonstrates how the trained model can be used as a decision-support interface.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5166360"/>
            <a:ext cx="4297680" cy="914400"/>
          </a:xfrm>
          <a:prstGeom prst="roundRect">
            <a:avLst/>
          </a:prstGeom>
          <a:solidFill>
            <a:srgbClr val="EFF8F2"/>
          </a:solidFill>
          <a:ln>
            <a:solidFill>
              <a:srgbClr val="D2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6E69"/>
                </a:solidFill>
              </a:defRPr>
            </a:pPr>
            <a:r>
              <a:t>OUTPUT</a:t>
            </a:r>
          </a:p>
          <a:p>
            <a:pPr algn="ctr">
              <a:defRPr sz="2300" b="1">
                <a:solidFill>
                  <a:srgbClr val="13372A"/>
                </a:solidFill>
              </a:defRPr>
            </a:pPr>
            <a:r>
              <a:t>Predicted Yield</a:t>
            </a:r>
          </a:p>
          <a:p>
            <a:pPr algn="ctr">
              <a:defRPr sz="900">
                <a:solidFill>
                  <a:srgbClr val="646E69"/>
                </a:solidFill>
              </a:defRPr>
            </a:pPr>
            <a:r>
              <a:t>generated by trained Gradient Boosting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69"/>
                </a:solidFill>
              </a:defRPr>
            </a:pPr>
            <a:r>
              <a:t>AGRIRAIN AI  •  Agriculture Rainfall Prediction using Gradient Boosting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372A"/>
                </a:solidFill>
              </a:defRPr>
            </a:pPr>
            <a:r>
              <a:t>16. 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E8B57"/>
                </a:solidFill>
              </a:defRPr>
            </a:pPr>
            <a:r>
              <a:t>Python</a:t>
            </a:r>
          </a:p>
          <a:p>
            <a:pPr>
              <a:defRPr sz="1050">
                <a:solidFill>
                  <a:srgbClr val="232D28"/>
                </a:solidFill>
              </a:defRPr>
            </a:pPr>
            <a:r>
              <a:t>Core programming, data processing and 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23444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E8B57"/>
                </a:solidFill>
              </a:defRPr>
            </a:pPr>
            <a:r>
              <a:t>Flask</a:t>
            </a:r>
          </a:p>
          <a:p>
            <a:pPr>
              <a:defRPr sz="1050">
                <a:solidFill>
                  <a:srgbClr val="232D28"/>
                </a:solidFill>
              </a:defRPr>
            </a:pPr>
            <a:r>
              <a:t>Backend web framework and routing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2316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E8B57"/>
                </a:solidFill>
              </a:defRPr>
            </a:pPr>
            <a:r>
              <a:t>Pandas</a:t>
            </a:r>
          </a:p>
          <a:p>
            <a:pPr>
              <a:defRPr sz="1050">
                <a:solidFill>
                  <a:srgbClr val="232D28"/>
                </a:solidFill>
              </a:defRPr>
            </a:pPr>
            <a:r>
              <a:t>CSV loading, cleaning, grouping and statistics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42316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E8B57"/>
                </a:solidFill>
              </a:defRPr>
            </a:pPr>
            <a:r>
              <a:t>NumPy</a:t>
            </a:r>
          </a:p>
          <a:p>
            <a:pPr>
              <a:defRPr sz="1050">
                <a:solidFill>
                  <a:srgbClr val="232D28"/>
                </a:solidFill>
              </a:defRPr>
            </a:pPr>
            <a:r>
              <a:t>Numerical calculations and trend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1188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E8B57"/>
                </a:solidFill>
              </a:defRPr>
            </a:pPr>
            <a:r>
              <a:t>Scikit-learn</a:t>
            </a:r>
          </a:p>
          <a:p>
            <a:pPr>
              <a:defRPr sz="1050">
                <a:solidFill>
                  <a:srgbClr val="232D28"/>
                </a:solidFill>
              </a:defRPr>
            </a:pPr>
            <a:r>
              <a:t>Preprocessing, Gradient Boosting and 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61188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E8B57"/>
                </a:solidFill>
              </a:defRPr>
            </a:pPr>
            <a:r>
              <a:t>Plotly.js</a:t>
            </a:r>
          </a:p>
          <a:p>
            <a:pPr>
              <a:defRPr sz="1050">
                <a:solidFill>
                  <a:srgbClr val="232D28"/>
                </a:solidFill>
              </a:defRPr>
            </a:pPr>
            <a:r>
              <a:t>Interactive charts in the 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80060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E8B57"/>
                </a:solidFill>
              </a:defRPr>
            </a:pPr>
            <a:r>
              <a:t>HTML / CSS</a:t>
            </a:r>
          </a:p>
          <a:p>
            <a:pPr>
              <a:defRPr sz="1050">
                <a:solidFill>
                  <a:srgbClr val="232D28"/>
                </a:solidFill>
              </a:defRPr>
            </a:pPr>
            <a:r>
              <a:t>Web page structure and styling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80060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E8B57"/>
                </a:solidFill>
              </a:defRPr>
            </a:pPr>
            <a:r>
              <a:t>JavaScript</a:t>
            </a:r>
          </a:p>
          <a:p>
            <a:pPr>
              <a:defRPr sz="1050">
                <a:solidFill>
                  <a:srgbClr val="232D28"/>
                </a:solidFill>
              </a:defRPr>
            </a:pPr>
            <a:r>
              <a:t>Interactive chart rendering and UI behaviour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69"/>
                </a:solidFill>
              </a:defRPr>
            </a:pPr>
            <a:r>
              <a:t>AGRIRAIN AI  •  Agriculture Rainfall Prediction using Gradient Boosting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372A"/>
                </a:solidFill>
              </a:defRPr>
            </a:pPr>
            <a:r>
              <a:t>17. Key Findings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D28"/>
                </a:solidFill>
              </a:defRPr>
            </a:pPr>
            <a:r>
              <a:t>Rainfall patterns vary considerably over the historical period and across states.</a:t>
            </a:r>
          </a:p>
          <a:p>
            <a:pPr>
              <a:spcAft>
                <a:spcPts val="1200"/>
              </a:spcAft>
              <a:defRPr sz="1500">
                <a:solidFill>
                  <a:srgbClr val="232D28"/>
                </a:solidFill>
              </a:defRPr>
            </a:pPr>
            <a:r>
              <a:t>Yield is influenced by multiple agricultural variables; rainfall should not be treated as the only predictor.</a:t>
            </a:r>
          </a:p>
          <a:p>
            <a:pPr>
              <a:spcAft>
                <a:spcPts val="1200"/>
              </a:spcAft>
              <a:defRPr sz="1500">
                <a:solidFill>
                  <a:srgbClr val="232D28"/>
                </a:solidFill>
              </a:defRPr>
            </a:pPr>
            <a:r>
              <a:t>Gradient Boosting captures non-linear relationships and provides strong predictive performance on the held-out dataset.</a:t>
            </a:r>
          </a:p>
          <a:p>
            <a:pPr>
              <a:spcAft>
                <a:spcPts val="1200"/>
              </a:spcAft>
              <a:defRPr sz="1500">
                <a:solidFill>
                  <a:srgbClr val="232D28"/>
                </a:solidFill>
              </a:defRPr>
            </a:pPr>
            <a:r>
              <a:t>The web application makes the analysis accessible through visual dashboards and an interactive forecast form.</a:t>
            </a:r>
          </a:p>
          <a:p>
            <a:pPr>
              <a:spcAft>
                <a:spcPts val="1200"/>
              </a:spcAft>
              <a:defRPr sz="1500">
                <a:solidFill>
                  <a:srgbClr val="232D28"/>
                </a:solidFill>
              </a:defRPr>
            </a:pPr>
            <a:r>
              <a:t>Limitation: yield units and agricultural measurement scales can differ across crops, so cross-crop comparisons require care.</a:t>
            </a:r>
          </a:p>
          <a:p>
            <a:pPr>
              <a:spcAft>
                <a:spcPts val="1200"/>
              </a:spcAft>
              <a:defRPr sz="1500">
                <a:solidFill>
                  <a:srgbClr val="232D28"/>
                </a:solidFill>
              </a:defRPr>
            </a:pPr>
            <a:r>
              <a:t>Limitation: historical relationships do not guarantee future performance under climate or farming conditions not represented in the dataset.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69"/>
                </a:solidFill>
              </a:defRPr>
            </a:pPr>
            <a:r>
              <a:t>AGRIRAIN AI  •  Agriculture Rainfall Prediction using Gradient Boosting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3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1430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2412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FFFFF"/>
                </a:solidFill>
              </a:defRPr>
            </a:pPr>
            <a:r>
              <a:t>AGRIRAIN AI combines agricultural data analysis with machine learning to support yield-oriented decision making.</a:t>
            </a:r>
          </a:p>
          <a:p>
            <a:pPr>
              <a:spcAft>
                <a:spcPts val="1800"/>
              </a:spcAft>
              <a:defRPr sz="2100">
                <a:solidFill>
                  <a:srgbClr val="FFFFFF"/>
                </a:solidFill>
              </a:defRPr>
            </a:pPr>
            <a:r>
              <a:t>The system integrates data quality checks, EDA, trend analysis, correlation analysis, Gradient Boosting and interactive prediction.</a:t>
            </a:r>
          </a:p>
          <a:p>
            <a:pPr>
              <a:spcAft>
                <a:spcPts val="1800"/>
              </a:spcAft>
              <a:defRPr sz="2100">
                <a:solidFill>
                  <a:srgbClr val="FFFFFF"/>
                </a:solidFill>
              </a:defRPr>
            </a:pPr>
            <a:r>
              <a:t>The project demonstrates a complete pipeline from raw CSV data to a working web-based ML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949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DEBD8"/>
                </a:solidFill>
              </a:defRPr>
            </a:pPr>
            <a:r>
              <a:t>Thank You  •  Questions &amp; Viva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1685</Words>
  <Application>Microsoft Office PowerPoint</Application>
  <PresentationFormat>Widescreen</PresentationFormat>
  <Paragraphs>217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bhavitha raavi</cp:lastModifiedBy>
  <cp:revision>2</cp:revision>
  <dcterms:created xsi:type="dcterms:W3CDTF">2013-01-27T09:14:16Z</dcterms:created>
  <dcterms:modified xsi:type="dcterms:W3CDTF">2026-10-05T09:19:29Z</dcterms:modified>
  <cp:category/>
</cp:coreProperties>
</file>